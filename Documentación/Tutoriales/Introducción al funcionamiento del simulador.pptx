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45D69E-29EE-471E-A1E7-1FD6CC9C01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1E1FE9-EDD6-41C2-B91F-4559E8702F6D}"/>
              </a:ext>
            </a:extLst>
          </p:cNvPr>
          <p:cNvSpPr>
            <a:spLocks noGrp="1"/>
          </p:cNvSpPr>
          <p:nvPr/>
        </p:nvSpPr>
        <p:spPr>
          <a:xfrm>
            <a:off x="800100" y="100012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GUÍA DE USO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347E4-9F1A-402E-9E2D-AAC16CD6C13F}"/>
              </a:ext>
            </a:extLst>
          </p:cNvPr>
          <p:cNvSpPr>
            <a:spLocks noGrp="1"/>
          </p:cNvSpPr>
          <p:nvPr/>
        </p:nvSpPr>
        <p:spPr>
          <a:xfrm>
            <a:off x="800100" y="1476375"/>
            <a:ext cx="99060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360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Simulador de Variables de Proceso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374AB0-659D-4E56-B933-E41ADD9A6959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Descripción de interfaces, configuración, operación, registro de datos y calibración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700D2-7356-4968-B6D7-33CAB4312D68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0572750" cy="19050"/>
          </a:xfrm>
          <a:prstGeom prst="rect">
            <a:avLst/>
          </a:prstGeom>
          <a:solidFill>
            <a:srgbClr val="27425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F1890-4915-4966-ADD3-97C9216ADF45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500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 dirty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Proyecto Final · Ingeniería Electrónica</a:t>
            </a:r>
            <a:r>
              <a:rPr lang="es-AR" sz="1500" b="0" dirty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 2026</a:t>
            </a:r>
            <a:endParaRPr sz="1500" b="0" dirty="0">
              <a:solidFill>
                <a:srgbClr val="A7ECFF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2975E-0BC9-4CC0-9FB3-FC59AFADAC6D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Nicolas Emiliano Ivani</a:t>
            </a:r>
          </a:p>
        </p:txBody>
      </p:sp>
    </p:spTree>
    <p:extLst>
      <p:ext uri="{BB962C8B-B14F-4D97-AF65-F5344CB8AC3E}">
        <p14:creationId xmlns:p14="http://schemas.microsoft.com/office/powerpoint/2010/main" val="89802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43C947-9C73-45BD-953C-9FCEB5D09A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AD2B59-55F7-4173-8EC1-DF8788A79A2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FUNCIONAMIENTO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1429E-E563-47AA-8E42-A1DCEFC656E6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D5A4A-C2C6-4889-A9E8-0E7C17E3C59F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Funcionamiento general del simulador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D6E29-3488-4DB3-8383-458C34607C65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El equipo emula una variable de proceso y permite probar un lazo de control con señales industriales de 4–20 mA.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4D6085-EEF5-4EBB-95A4-E741B3F2696D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776176-9D0E-4A87-AD4D-10154CE9094B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B8C4CF-919C-457F-9C68-38850E68C929}"/>
              </a:ext>
            </a:extLst>
          </p:cNvPr>
          <p:cNvSpPr>
            <a:spLocks noGrp="1"/>
          </p:cNvSpPr>
          <p:nvPr/>
        </p:nvSpPr>
        <p:spPr>
          <a:xfrm>
            <a:off x="1257300" y="20574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Entrada desde el PLC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E6E9-6383-4480-AFB9-400D87EF6D46}"/>
              </a:ext>
            </a:extLst>
          </p:cNvPr>
          <p:cNvSpPr>
            <a:spLocks noGrp="1"/>
          </p:cNvSpPr>
          <p:nvPr/>
        </p:nvSpPr>
        <p:spPr>
          <a:xfrm>
            <a:off x="1257300" y="2314575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Recibe la señal de mando o salida del controlador y la convierte a porcentaje.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638B1D-7A1B-4C26-9C1D-97A8AA97E100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A6F4E3-2083-4D7E-AC15-66D1A377DB92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BA051B-7B28-4572-894A-43D27BA0DA23}"/>
              </a:ext>
            </a:extLst>
          </p:cNvPr>
          <p:cNvSpPr>
            <a:spLocks noGrp="1"/>
          </p:cNvSpPr>
          <p:nvPr/>
        </p:nvSpPr>
        <p:spPr>
          <a:xfrm>
            <a:off x="1257300" y="31813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Modelo de proceso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CBF7BF-14C9-47DF-9093-86C1A0162FD1}"/>
              </a:ext>
            </a:extLst>
          </p:cNvPr>
          <p:cNvSpPr>
            <a:spLocks noGrp="1"/>
          </p:cNvSpPr>
          <p:nvPr/>
        </p:nvSpPr>
        <p:spPr>
          <a:xfrm>
            <a:off x="1257300" y="3438525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Aplica ganancia, constante de tiempo y retardo; también puede sumar ruido y offset.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86F3B6-37F6-481B-AF3B-9D55959D1AA0}"/>
              </a:ext>
            </a:extLst>
          </p:cNvPr>
          <p:cNvSpPr>
            <a:spLocks noGrp="1"/>
          </p:cNvSpPr>
          <p:nvPr/>
        </p:nvSpPr>
        <p:spPr>
          <a:xfrm>
            <a:off x="6334125" y="2076450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DED1EA-E2B7-4A20-86A0-1DE0EC095DB5}"/>
              </a:ext>
            </a:extLst>
          </p:cNvPr>
          <p:cNvSpPr>
            <a:spLocks noGrp="1"/>
          </p:cNvSpPr>
          <p:nvPr/>
        </p:nvSpPr>
        <p:spPr>
          <a:xfrm>
            <a:off x="6334125" y="2076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81CE4-FB00-4C69-9A5C-DF2E9F7650F5}"/>
              </a:ext>
            </a:extLst>
          </p:cNvPr>
          <p:cNvSpPr>
            <a:spLocks noGrp="1"/>
          </p:cNvSpPr>
          <p:nvPr/>
        </p:nvSpPr>
        <p:spPr>
          <a:xfrm>
            <a:off x="6905625" y="20574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Salida simulada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1A8844-56D3-49AF-8E77-283532776DDC}"/>
              </a:ext>
            </a:extLst>
          </p:cNvPr>
          <p:cNvSpPr>
            <a:spLocks noGrp="1"/>
          </p:cNvSpPr>
          <p:nvPr/>
        </p:nvSpPr>
        <p:spPr>
          <a:xfrm>
            <a:off x="6905625" y="2314575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Genera una señal de 4–20 mA que representa la variable de proceso simulada.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FF5483-B3AE-4703-81D5-446778F52F07}"/>
              </a:ext>
            </a:extLst>
          </p:cNvPr>
          <p:cNvSpPr>
            <a:spLocks noGrp="1"/>
          </p:cNvSpPr>
          <p:nvPr/>
        </p:nvSpPr>
        <p:spPr>
          <a:xfrm>
            <a:off x="6334125" y="3200400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0313F-E253-4555-9A07-A18D624852BF}"/>
              </a:ext>
            </a:extLst>
          </p:cNvPr>
          <p:cNvSpPr>
            <a:spLocks noGrp="1"/>
          </p:cNvSpPr>
          <p:nvPr/>
        </p:nvSpPr>
        <p:spPr>
          <a:xfrm>
            <a:off x="6334125" y="32004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EC4CD6-5F0A-4614-AF9E-D069521AE595}"/>
              </a:ext>
            </a:extLst>
          </p:cNvPr>
          <p:cNvSpPr>
            <a:spLocks noGrp="1"/>
          </p:cNvSpPr>
          <p:nvPr/>
        </p:nvSpPr>
        <p:spPr>
          <a:xfrm>
            <a:off x="6905625" y="31813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Cierre del lazo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D1E784-90EA-4FA5-B093-01EFA7BB446A}"/>
              </a:ext>
            </a:extLst>
          </p:cNvPr>
          <p:cNvSpPr>
            <a:spLocks noGrp="1"/>
          </p:cNvSpPr>
          <p:nvPr/>
        </p:nvSpPr>
        <p:spPr>
          <a:xfrm>
            <a:off x="6905625" y="3438525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El PLC mide la respuesta y corrige su salida según el setpoint y la estrategia de control.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A5D693-152A-4024-B5D2-B26FE85DE807}"/>
              </a:ext>
            </a:extLst>
          </p:cNvPr>
          <p:cNvSpPr>
            <a:spLocks noGrp="1"/>
          </p:cNvSpPr>
          <p:nvPr/>
        </p:nvSpPr>
        <p:spPr>
          <a:xfrm>
            <a:off x="5806440" y="4215384"/>
            <a:ext cx="557784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3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3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Modelo base: primer orden con retardo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CC2196-7440-4EFF-A3CB-E70105E87ED7}"/>
              </a:ext>
            </a:extLst>
          </p:cNvPr>
          <p:cNvSpPr>
            <a:spLocks noGrp="1"/>
          </p:cNvSpPr>
          <p:nvPr/>
        </p:nvSpPr>
        <p:spPr>
          <a:xfrm>
            <a:off x="5806440" y="4617720"/>
            <a:ext cx="548640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35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35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K define la amplitud · Tau define la velocidad · Retardo demora el inicio de la respuesta</a:t>
            </a:r>
          </a:p>
        </p:txBody>
      </p:sp>
      <p:pic>
        <p:nvPicPr>
          <p:cNvPr id="25" name="Picture 24" descr="diagrama_técnico_plc_con_conexiones_ao_y_ai.png"/>
          <p:cNvPicPr>
            <a:picLocks noChangeAspect="1"/>
          </p:cNvPicPr>
          <p:nvPr/>
        </p:nvPicPr>
        <p:blipFill>
          <a:blip r:embed="rId3"/>
          <a:srcRect l="11660" r="11575" b="3572"/>
          <a:stretch>
            <a:fillRect/>
          </a:stretch>
        </p:blipFill>
        <p:spPr>
          <a:xfrm>
            <a:off x="1308161" y="4007881"/>
            <a:ext cx="3660654" cy="2587944"/>
          </a:xfrm>
          <a:prstGeom prst="roundRect">
            <a:avLst>
              <a:gd name="adj" fmla="val 9161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5806440" y="5532120"/>
            <a:ext cx="557784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AFC0CC"/>
                </a:solidFill>
                <a:latin typeface="Bitstream Charter"/>
              </a:rPr>
              <a:t>Conexionado 4–20 mA: AO± del PLC → AO± del simulador (MV). AI± del simulador → AI± del PLC (PV). Respetar la polaridad de cada borne.</a:t>
            </a:r>
          </a:p>
        </p:txBody>
      </p:sp>
    </p:spTree>
    <p:extLst>
      <p:ext uri="{BB962C8B-B14F-4D97-AF65-F5344CB8AC3E}">
        <p14:creationId xmlns:p14="http://schemas.microsoft.com/office/powerpoint/2010/main" val="91156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7A9E07-6837-431D-9D81-74F6BD5B13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4541D1-B1B9-4D72-875D-337328DAB91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PUESTA EN MARCHA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01836-97C5-4226-AC28-1E7D9C7E90BA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4ABAE1-CEED-423A-86EC-D960152F5F5D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Secuencia de uso recomendada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73E61-41A0-487E-A0E7-64CAB12C3916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Esta secuencia sirve como guía rápida para realizar una prueba completa y guardar sus resultados.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F4AEDC-6D9F-4690-B075-F542A2CDBC0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AFD6F-A87F-4FD5-BD59-53D2B4B2150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E096E3-DE79-4DFA-A0BA-A06DBAD3A47E}"/>
              </a:ext>
            </a:extLst>
          </p:cNvPr>
          <p:cNvSpPr>
            <a:spLocks noGrp="1"/>
          </p:cNvSpPr>
          <p:nvPr/>
        </p:nvSpPr>
        <p:spPr>
          <a:xfrm>
            <a:off x="1257300" y="1933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Preparar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9E661-7646-45FF-8B22-5F2A14267DEE}"/>
              </a:ext>
            </a:extLst>
          </p:cNvPr>
          <p:cNvSpPr>
            <a:spLocks noGrp="1"/>
          </p:cNvSpPr>
          <p:nvPr/>
        </p:nvSpPr>
        <p:spPr>
          <a:xfrm>
            <a:off x="1257300" y="219075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Verificar conexiones, polaridad y alimentación. Insertar la tarjeta SD si se registrarán datos.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6FA1FF-7E37-42FD-8D45-093750C48107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E2634-0CB8-4EBA-9FB1-4F6DF1FDF488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89596A-7CAF-4DDF-A34B-6051B3D4DA72}"/>
              </a:ext>
            </a:extLst>
          </p:cNvPr>
          <p:cNvSpPr>
            <a:spLocks noGrp="1"/>
          </p:cNvSpPr>
          <p:nvPr/>
        </p:nvSpPr>
        <p:spPr>
          <a:xfrm>
            <a:off x="1257300" y="3076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Conectar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3BD1D6-9C10-4D54-BF94-7D14D6503362}"/>
              </a:ext>
            </a:extLst>
          </p:cNvPr>
          <p:cNvSpPr>
            <a:spLocks noGrp="1"/>
          </p:cNvSpPr>
          <p:nvPr/>
        </p:nvSpPr>
        <p:spPr>
          <a:xfrm>
            <a:off x="1257300" y="333375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Configurar el WiFi y abrir la interfaz web, o trabajar directamente desde el display.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ADD60A-5B02-456D-A2EA-E7DE7A42B900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0A1C8-8CDD-4A45-BF34-4D074DA843E6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5863C8-7F83-4206-BC83-55EDBD88B196}"/>
              </a:ext>
            </a:extLst>
          </p:cNvPr>
          <p:cNvSpPr>
            <a:spLocks noGrp="1"/>
          </p:cNvSpPr>
          <p:nvPr/>
        </p:nvSpPr>
        <p:spPr>
          <a:xfrm>
            <a:off x="1257300" y="4219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Configurar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B8D4F8-C5D5-490E-BE03-AE45581A62D4}"/>
              </a:ext>
            </a:extLst>
          </p:cNvPr>
          <p:cNvSpPr>
            <a:spLocks noGrp="1"/>
          </p:cNvSpPr>
          <p:nvPr/>
        </p:nvSpPr>
        <p:spPr>
          <a:xfrm>
            <a:off x="1257300" y="447675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Elegir un preset o ajustar ganancia, Tau, retardo, ruido y offset.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1E5B4B5-FAD8-4697-9D40-E2D7675F9757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6D100-26BA-48FA-A0E4-83E25E65ADB0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BDF0A2-965C-4918-AEEF-0CE7A19BE8C3}"/>
              </a:ext>
            </a:extLst>
          </p:cNvPr>
          <p:cNvSpPr>
            <a:spLocks noGrp="1"/>
          </p:cNvSpPr>
          <p:nvPr/>
        </p:nvSpPr>
        <p:spPr>
          <a:xfrm>
            <a:off x="6905625" y="1933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Habilitar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6511E1-2063-4F09-8E3A-DF05836CE79A}"/>
              </a:ext>
            </a:extLst>
          </p:cNvPr>
          <p:cNvSpPr>
            <a:spLocks noGrp="1"/>
          </p:cNvSpPr>
          <p:nvPr/>
        </p:nvSpPr>
        <p:spPr>
          <a:xfrm>
            <a:off x="6905625" y="219075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Activar la salida y seleccionar el modo automático o manual según la prueba.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DD7D4A-F056-4669-8BC4-1F48C6632C38}"/>
              </a:ext>
            </a:extLst>
          </p:cNvPr>
          <p:cNvSpPr>
            <a:spLocks noGrp="1"/>
          </p:cNvSpPr>
          <p:nvPr/>
        </p:nvSpPr>
        <p:spPr>
          <a:xfrm>
            <a:off x="6334125" y="3095625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4BB69C-8150-4B32-A339-FAF228E7FA9E}"/>
              </a:ext>
            </a:extLst>
          </p:cNvPr>
          <p:cNvSpPr>
            <a:spLocks noGrp="1"/>
          </p:cNvSpPr>
          <p:nvPr/>
        </p:nvSpPr>
        <p:spPr>
          <a:xfrm>
            <a:off x="6334125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F8F3D1-2945-4A54-9069-2636593D9B46}"/>
              </a:ext>
            </a:extLst>
          </p:cNvPr>
          <p:cNvSpPr>
            <a:spLocks noGrp="1"/>
          </p:cNvSpPr>
          <p:nvPr/>
        </p:nvSpPr>
        <p:spPr>
          <a:xfrm>
            <a:off x="6905625" y="3076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Ensayar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F688ED-F0C6-42F8-BA61-1D7C3395146D}"/>
              </a:ext>
            </a:extLst>
          </p:cNvPr>
          <p:cNvSpPr>
            <a:spLocks noGrp="1"/>
          </p:cNvSpPr>
          <p:nvPr/>
        </p:nvSpPr>
        <p:spPr>
          <a:xfrm>
            <a:off x="6905625" y="333375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Cambiar el setpoint desde el PLC, aplicar perturbaciones y observar IN/OUT.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190148E-1F3C-4426-84D3-E3A63EC8B784}"/>
              </a:ext>
            </a:extLst>
          </p:cNvPr>
          <p:cNvSpPr>
            <a:spLocks noGrp="1"/>
          </p:cNvSpPr>
          <p:nvPr/>
        </p:nvSpPr>
        <p:spPr>
          <a:xfrm>
            <a:off x="6334125" y="4238625"/>
            <a:ext cx="400050" cy="400050"/>
          </a:xfrm>
          <a:prstGeom prst="ellipse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FD676F-B002-47ED-AA59-3D61F784F231}"/>
              </a:ext>
            </a:extLst>
          </p:cNvPr>
          <p:cNvSpPr>
            <a:spLocks noGrp="1"/>
          </p:cNvSpPr>
          <p:nvPr/>
        </p:nvSpPr>
        <p:spPr>
          <a:xfrm>
            <a:off x="6334125" y="4238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 algn="ctr">
              <a:def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71019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2490F-03BC-4367-A431-018E329A51BD}"/>
              </a:ext>
            </a:extLst>
          </p:cNvPr>
          <p:cNvSpPr>
            <a:spLocks noGrp="1"/>
          </p:cNvSpPr>
          <p:nvPr/>
        </p:nvSpPr>
        <p:spPr>
          <a:xfrm>
            <a:off x="6905625" y="421957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Finalizar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0A89AD-175D-449E-A147-38AFEB7FCC1E}"/>
              </a:ext>
            </a:extLst>
          </p:cNvPr>
          <p:cNvSpPr>
            <a:spLocks noGrp="1"/>
          </p:cNvSpPr>
          <p:nvPr/>
        </p:nvSpPr>
        <p:spPr>
          <a:xfrm>
            <a:off x="6905625" y="4476750"/>
            <a:ext cx="457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Detener la captura, guardar el archivo y recién después retirar la tarjeta SD.</a:t>
            </a:r>
          </a:p>
        </p:txBody>
      </p:sp>
    </p:spTree>
    <p:extLst>
      <p:ext uri="{BB962C8B-B14F-4D97-AF65-F5344CB8AC3E}">
        <p14:creationId xmlns:p14="http://schemas.microsoft.com/office/powerpoint/2010/main" val="258513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611AA42-8C86-4243-9736-921D1FAA69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D24FB0-FFF5-4112-9D60-82829B0C492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PANTALLA PRINCIPAL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93841D-29C8-47BB-8B8F-9C1F1840F60E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558D14-FB15-4886-97DC-85E051A5D256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 17">
            <a:extLst>
              <a:ext uri="{FF2B5EF4-FFF2-40B4-BE49-F238E27FC236}">
                <a16:creationId xmlns:a16="http://schemas.microsoft.com/office/drawing/2014/main" id="{8D5B73BB-052B-44EA-B280-975E27FD88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9" t="3936" r="2012" b="5456"/>
          <a:stretch>
            <a:fillRect/>
          </a:stretch>
        </p:blipFill>
        <p:spPr>
          <a:xfrm>
            <a:off x="930000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B8092A-35BD-490E-A655-535B21CF6A8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Vista principal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AFA582-61AF-4F72-A49E-256704F58D2A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Resume el estado del simulador y permite observar la respuesta del proceso en tiempo real.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25F826-2F70-4202-B170-48F64341ACC5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Valores IN y 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320268-FF3F-4C3D-9894-F4134182A254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Indican los niveles actuales de entrada y salida.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AA09B6-C17F-4D77-A33B-75E360871955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Gráficas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AA2A77-7D73-4695-A469-26085031EA97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Muestran la evolución reciente de ambas señales.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5BB28-F020-4BCC-9151-FEE3EAB7C200}"/>
              </a:ext>
            </a:extLst>
          </p:cNvPr>
          <p:cNvSpPr>
            <a:spLocks noGrp="1"/>
          </p:cNvSpPr>
          <p:nvPr/>
        </p:nvSpPr>
        <p:spPr>
          <a:xfrm>
            <a:off x="7477125" y="5181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Indicadores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D4D3D2-AE26-44F1-B6F7-984003E2B213}"/>
              </a:ext>
            </a:extLst>
          </p:cNvPr>
          <p:cNvSpPr>
            <a:spLocks noGrp="1"/>
          </p:cNvSpPr>
          <p:nvPr/>
        </p:nvSpPr>
        <p:spPr>
          <a:xfrm>
            <a:off x="7477125" y="550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Informan el estado de WiFi, audio y salida.</a:t>
            </a:r>
          </a:p>
        </p:txBody>
      </p:sp>
    </p:spTree>
    <p:extLst>
      <p:ext uri="{BB962C8B-B14F-4D97-AF65-F5344CB8AC3E}">
        <p14:creationId xmlns:p14="http://schemas.microsoft.com/office/powerpoint/2010/main" val="196575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83DFD64-A1D4-421E-A920-E25DFE0FF3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F2935B-3CA6-4AA7-B84D-56C39674687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CA6A75-8D79-4D42-9BBB-68F16937D4F4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CDCC56-5B39-47A2-A134-5EB00904D436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 17">
            <a:extLst>
              <a:ext uri="{FF2B5EF4-FFF2-40B4-BE49-F238E27FC236}">
                <a16:creationId xmlns:a16="http://schemas.microsoft.com/office/drawing/2014/main" id="{67BD6427-4D5B-45B3-8854-916AA9B4BC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95" t="18959" r="11422" b="16362"/>
          <a:stretch>
            <a:fillRect/>
          </a:stretch>
        </p:blipFill>
        <p:spPr>
          <a:xfrm>
            <a:off x="925237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2B49A0-5EDB-4FB0-A6A5-670FF29657C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Salida y modo de operación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1E95D3-3FAF-435D-9C13-D754500F30BA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Reúne las opciones que determinan cómo se genera la señal de salida.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441C60-4B2E-4B6B-849F-6EB5B07970B6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Salida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D95F18-99CE-4179-A0F0-22254B635EAF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Activa o desactiva la generación de la señal.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18661E-C8A2-473A-8EB7-418F46F2275B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Modo de salida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76C31B-2A5F-48FC-8AC1-602A5FF9ACEE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Selecciona el funcionamiento automático o manual.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055306-E78D-4DBA-857E-2AD11830D8CF}"/>
              </a:ext>
            </a:extLst>
          </p:cNvPr>
          <p:cNvSpPr>
            <a:spLocks noGrp="1"/>
          </p:cNvSpPr>
          <p:nvPr/>
        </p:nvSpPr>
        <p:spPr>
          <a:xfrm>
            <a:off x="7477125" y="5181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Valor Manual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9A38F9-9B94-47D0-AD96-FE203B70789F}"/>
              </a:ext>
            </a:extLst>
          </p:cNvPr>
          <p:cNvSpPr>
            <a:spLocks noGrp="1"/>
          </p:cNvSpPr>
          <p:nvPr/>
        </p:nvSpPr>
        <p:spPr>
          <a:xfrm>
            <a:off x="7477125" y="550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Configura la salida utilizada durante la operación manual.</a:t>
            </a:r>
          </a:p>
        </p:txBody>
      </p:sp>
    </p:spTree>
    <p:extLst>
      <p:ext uri="{BB962C8B-B14F-4D97-AF65-F5344CB8AC3E}">
        <p14:creationId xmlns:p14="http://schemas.microsoft.com/office/powerpoint/2010/main" val="39608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D99415A-92B3-46EF-B154-A28C2ACB5A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13527C-A742-49F0-BF2F-2F4DDE0986D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MODELO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67C71-8E59-49B2-99D7-EF02CDE326BA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E43488-E31B-4E73-B110-A4D35EEC5BDF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 17">
            <a:extLst>
              <a:ext uri="{FF2B5EF4-FFF2-40B4-BE49-F238E27FC236}">
                <a16:creationId xmlns:a16="http://schemas.microsoft.com/office/drawing/2014/main" id="{574E58ED-8ED9-46E2-BCEC-D3FF65A11D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7" t="2669" r="1741" b="3256"/>
          <a:stretch>
            <a:fillRect/>
          </a:stretch>
        </p:blipFill>
        <p:spPr>
          <a:xfrm>
            <a:off x="930000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BD9BF2-67C6-41B9-A45F-176745D7A8D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Preset, ganancia y constante de tiempo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E785C5-EAF2-49B5-AC18-03F628619370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Define el comportamiento básico del modelo dinámico de primer orden.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20A10-16CE-4243-95B0-6E7F1ADBC6EE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Preset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FD282-57A9-42B4-B85D-929EECBD89E8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Carga una configuración inicial según el tipo de variable.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1F4733-4931-40B4-87FD-CA1413EE1413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Ganancia 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8015F-855B-4D81-B7DA-FBE673138C07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181"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Escala la amplitud de la respuesta. K=1 conserva la relación de entrada; valores mayores la amplifican.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2C12F2-A18B-46EA-BC99-4FDCFD5AB757}"/>
              </a:ext>
            </a:extLst>
          </p:cNvPr>
          <p:cNvSpPr>
            <a:spLocks noGrp="1"/>
          </p:cNvSpPr>
          <p:nvPr/>
        </p:nvSpPr>
        <p:spPr>
          <a:xfrm>
            <a:off x="7477125" y="5181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Tau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4526B-6EE7-4743-986B-D1788436E64B}"/>
              </a:ext>
            </a:extLst>
          </p:cNvPr>
          <p:cNvSpPr>
            <a:spLocks noGrp="1"/>
          </p:cNvSpPr>
          <p:nvPr/>
        </p:nvSpPr>
        <p:spPr>
          <a:xfrm>
            <a:off x="7477125" y="550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Define la velocidad de respuesta. Un valor alto produce una respuesta más lenta.</a:t>
            </a:r>
          </a:p>
        </p:txBody>
      </p:sp>
    </p:spTree>
    <p:extLst>
      <p:ext uri="{BB962C8B-B14F-4D97-AF65-F5344CB8AC3E}">
        <p14:creationId xmlns:p14="http://schemas.microsoft.com/office/powerpoint/2010/main" val="143388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C51BC3-27E1-4545-89FF-E98086C1EF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60E2F-F91A-4E2A-BF05-5DA9473B886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MODELO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5A8D4-1806-425F-B6D9-15ED3AF95638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508FD3-C3DE-4ACF-9523-448D34E9B23D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 17">
            <a:extLst>
              <a:ext uri="{FF2B5EF4-FFF2-40B4-BE49-F238E27FC236}">
                <a16:creationId xmlns:a16="http://schemas.microsoft.com/office/drawing/2014/main" id="{27DA6556-D49A-48CF-B760-5B3B54C4F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2" t="3257" r="1383" b="3257"/>
          <a:stretch>
            <a:fillRect/>
          </a:stretch>
        </p:blipFill>
        <p:spPr>
          <a:xfrm>
            <a:off x="930000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D44FB-304C-4696-98E5-7B546039E9D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Retardo, perturbaciones y congelamiento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F43EDA-9111-4C57-8CBD-2D7E9E1827E8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Completa la configuración del modelo con efectos adicionales sobre la respuesta.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5CEE0-8D19-4D7D-A72D-38D15AAC7A23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Retardo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44BBF8-AAD3-4D7F-B655-8B151AC935B8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Agrega una demora antes de que la salida comience a responder.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591298-D01F-47C2-9711-EA9341FA99C1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Ruido y offset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6E9C80-7553-4C68-8ABC-A83322C3E1C8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El ruido simula variaciones; el offset desplaza la salida respecto del valor ideal.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42D265-E97C-4A95-9B1D-B21E07B01F00}"/>
              </a:ext>
            </a:extLst>
          </p:cNvPr>
          <p:cNvSpPr>
            <a:spLocks noGrp="1"/>
          </p:cNvSpPr>
          <p:nvPr/>
        </p:nvSpPr>
        <p:spPr>
          <a:xfrm>
            <a:off x="7477125" y="5181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Congelar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252B75-1829-4D69-B3D2-41F70E451EF6}"/>
              </a:ext>
            </a:extLst>
          </p:cNvPr>
          <p:cNvSpPr>
            <a:spLocks noGrp="1"/>
          </p:cNvSpPr>
          <p:nvPr/>
        </p:nvSpPr>
        <p:spPr>
          <a:xfrm>
            <a:off x="7477125" y="550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664"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Mantiene temporalmente el valor actual de la simulación para observar la reacción del controlador.</a:t>
            </a:r>
          </a:p>
        </p:txBody>
      </p:sp>
    </p:spTree>
    <p:extLst>
      <p:ext uri="{BB962C8B-B14F-4D97-AF65-F5344CB8AC3E}">
        <p14:creationId xmlns:p14="http://schemas.microsoft.com/office/powerpoint/2010/main" val="898180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86D6C8-1214-4725-8140-4544A28911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19055C-6C6C-470D-A661-85802DA6603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INTERFAZ WEB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049732-CD55-4456-B983-52305830FAEC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6241F-F090-4AF1-988B-DE52D4BD4E49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Operación y visualización desde la web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ECB50-5BDE-490B-8B3F-3C7AB1DD2B6C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Correspondencia con las pantallas 01 a 04 del display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8BF801-5747-40AE-BB35-C3B6722C4D23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La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página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reúne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los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valores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de entrada y salida, las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tendencias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, el modo de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operación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y el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modelo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proceso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sola vista.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16CB390E-FEA3-4564-B755-6D9EE5391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011" y="1573722"/>
            <a:ext cx="9767977" cy="454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8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BCF1B98-FF86-4800-9738-F394BD5D7B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7AFAAC-6D61-44B5-9F3B-EB1305A9E18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CONECTIVIDAD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48839-8DD2-4F0C-80E4-82B6DE5ED25E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E4DE22-837F-43F3-8CAD-8A20D08F0FFB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 17">
            <a:extLst>
              <a:ext uri="{FF2B5EF4-FFF2-40B4-BE49-F238E27FC236}">
                <a16:creationId xmlns:a16="http://schemas.microsoft.com/office/drawing/2014/main" id="{646F8DC7-DE8F-4F54-B69B-ABB80EC0AF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6" t="1845" r="2314" b="5316"/>
          <a:stretch>
            <a:fillRect/>
          </a:stretch>
        </p:blipFill>
        <p:spPr>
          <a:xfrm>
            <a:off x="925237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253B57-AD8E-4BC2-824E-5BC241807E71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Configuración WiFi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49F8B-4C3A-4A80-90C3-BF948AADC40B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Administra la conexión necesaria para acceder a la interfaz web del simulador.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C46B16-B98F-4054-8A46-24C9343BDC54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WiFi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CCFFC3-A881-4088-805E-69049C40397E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Activa o desactiva la conectividad inalámbrica.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F88E7A-A1D5-4256-A915-BAD1B3316D88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Info WiFi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C971B1-E53B-42A6-84BC-9247BC53CF5F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Consulta el estado y los datos actuales de la conexión.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F3053F-8F6C-48EE-96DD-FE8D72094FFC}"/>
              </a:ext>
            </a:extLst>
          </p:cNvPr>
          <p:cNvSpPr>
            <a:spLocks noGrp="1"/>
          </p:cNvSpPr>
          <p:nvPr/>
        </p:nvSpPr>
        <p:spPr>
          <a:xfrm>
            <a:off x="7477125" y="5181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Borrar WiFi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D1A127-3AD3-4EF2-BA02-0129ACC3CA9E}"/>
              </a:ext>
            </a:extLst>
          </p:cNvPr>
          <p:cNvSpPr>
            <a:spLocks noGrp="1"/>
          </p:cNvSpPr>
          <p:nvPr/>
        </p:nvSpPr>
        <p:spPr>
          <a:xfrm>
            <a:off x="7477125" y="550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Elimina las credenciales de red guardadas.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A6EFF8-8E61-B115-0A53-A2FC1BFE91C4}"/>
              </a:ext>
            </a:extLst>
          </p:cNvPr>
          <p:cNvSpPr>
            <a:spLocks noGrp="1"/>
          </p:cNvSpPr>
          <p:nvPr/>
        </p:nvSpPr>
        <p:spPr>
          <a:xfrm>
            <a:off x="685800" y="6153149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AR"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AP: Access </a:t>
            </a:r>
            <a:r>
              <a:rPr lang="es-AR" sz="1200" b="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point</a:t>
            </a:r>
            <a:r>
              <a:rPr lang="es-AR" sz="1200" b="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(el simulador crea una red local)</a:t>
            </a:r>
          </a:p>
          <a:p>
            <a:pPr algn="l">
              <a:buNone/>
              <a:defRPr sz="120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s-AR" sz="120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STA: Station (el simulador está conectado a un red </a:t>
            </a:r>
            <a:r>
              <a:rPr lang="es-AR" sz="1200" dirty="0" err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WiFi</a:t>
            </a:r>
            <a:r>
              <a:rPr lang="es-AR" sz="1200" dirty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 existente)</a:t>
            </a:r>
            <a:endParaRPr sz="1200" b="0" dirty="0">
              <a:solidFill>
                <a:srgbClr val="AFC0CC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641107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6962F8-FF1B-46E8-85C2-B1D8C37C1D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7D636C-4E60-44EE-B2EA-E781941CC79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SISTEMA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B8CE65-88B9-4CDD-88E1-01373211E763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9418F8-E0A7-4C62-B715-B4A841668CD4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Picture 15">
            <a:extLst>
              <a:ext uri="{FF2B5EF4-FFF2-40B4-BE49-F238E27FC236}">
                <a16:creationId xmlns:a16="http://schemas.microsoft.com/office/drawing/2014/main" id="{0BF58133-0BCA-4285-95CF-20A8A64EC1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3" t="2050" r="1583" b="4736"/>
          <a:stretch>
            <a:fillRect/>
          </a:stretch>
        </p:blipFill>
        <p:spPr>
          <a:xfrm>
            <a:off x="930000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1DE362-7A9E-4AE6-9516-7791264B745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Audio y tarjeta SD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83BBA-3311-4BF6-ABF6-E09542269F0B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Contiene ajustes generales y herramientas para verificar el almacenamiento externo.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4B13FF-BDC8-48BA-B442-7CFD37282D8E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Audio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E045E6-D8A9-4143-912A-306D30E6E0D6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Habilita o silencia los avisos sonoros del equipo.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102A39-9FD7-4B95-B62C-C62BA98C1FCC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Detectar SD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B5212-CDD2-4F48-9CCE-3A0DA28A066A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Comprueba si el simulador reconoce la tarjeta de memoria.</a:t>
            </a:r>
          </a:p>
        </p:txBody>
      </p:sp>
    </p:spTree>
    <p:extLst>
      <p:ext uri="{BB962C8B-B14F-4D97-AF65-F5344CB8AC3E}">
        <p14:creationId xmlns:p14="http://schemas.microsoft.com/office/powerpoint/2010/main" val="203819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9C0811D-B0E0-45B9-A32A-C60AE1973C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80798-2E17-4556-8239-E35E9F07F86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18267D-56A0-466E-83C8-26C0B756BAF3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6F56A8-FF84-45D4-BCDD-56AB1876CE95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B7D15F-43B4-43AD-9793-4D816EE9743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Captura y almacenamiento de datos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BB5ED-64A1-4524-BDA0-68C064F44632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Permite registrar el comportamiento del proceso y conservar la información obtenida.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D20C88-69CB-4460-A4C3-54420606FF5D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Capturar datos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F10B5-A476-4C4A-A858-15EB9CA41E77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Inicia o detiene el registro de las variables seleccionadas en un archivo CSV.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C72594-B44D-42DD-A309-80E1FA4CF391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Guardar datos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623518-414C-4D1C-A657-C6316AC1BE35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Cierra correctamente la captura y conserva el archivo en la tarjeta SD.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E15A8C-690A-4892-8476-B0AB1C144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174" r="625" b="1645"/>
          <a:stretch>
            <a:fillRect/>
          </a:stretch>
        </p:blipFill>
        <p:spPr>
          <a:xfrm>
            <a:off x="930000" y="1951875"/>
            <a:ext cx="576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72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9C0811D-B0E0-45B9-A32A-C60AE1973C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80798-2E17-4556-8239-E35E9F07F86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18267D-56A0-466E-83C8-26C0B756BAF3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6F56A8-FF84-45D4-BCDD-56AB1876CE95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Picture 15">
            <a:extLst>
              <a:ext uri="{FF2B5EF4-FFF2-40B4-BE49-F238E27FC236}">
                <a16:creationId xmlns:a16="http://schemas.microsoft.com/office/drawing/2014/main" id="{A1E30053-564B-41C1-B22C-C4B99FE8B0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0" t="22400" r="12500" b="22500"/>
          <a:stretch/>
        </p:blipFill>
        <p:spPr>
          <a:xfrm>
            <a:off x="930000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B7D15F-43B4-43AD-9793-4D816EE9743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Indicador de captura de datos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BB5ED-64A1-4524-BDA0-68C064F44632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El símbolo de captura aparece en la barra superior de la pantalla principal.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D20C88-69CB-4460-A4C3-54420606FF5D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3905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Ubicación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F10B5-A476-4C4A-A858-15EB9CA41E77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Arriba a la derecha, junto al triángulo que indica la salida.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C72594-B44D-42DD-A309-80E1FA4CF391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3905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Captura activa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623518-414C-4D1C-A657-C6316AC1BE35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Identifica la captura de datos durante la prueba.</a:t>
            </a:r>
          </a:p>
        </p:txBody>
      </p:sp>
    </p:spTree>
    <p:extLst>
      <p:ext uri="{BB962C8B-B14F-4D97-AF65-F5344CB8AC3E}">
        <p14:creationId xmlns:p14="http://schemas.microsoft.com/office/powerpoint/2010/main" val="1374372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EB45AE-1311-4004-8B26-BE782D75E6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A9FED4-756A-4962-ADB9-FDE4362432B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INTERFAZ WEB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BFABE1-56EB-4BA9-9F83-AF9EB3340BBC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F1B4ED-CB60-4C05-8DF2-561A0B7C3BA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Sistema, datos y WiFi desde la web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21B83-085F-4C7E-86B8-5B7B05C9820F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Correspondencia con las pantallas 05 a 07 del display</a:t>
            </a:r>
          </a:p>
        </p:txBody>
      </p:sp>
      <p:pic>
        <p:nvPicPr>
          <p:cNvPr id="15" name="Picture 12">
            <a:extLst>
              <a:ext uri="{FF2B5EF4-FFF2-40B4-BE49-F238E27FC236}">
                <a16:creationId xmlns:a16="http://schemas.microsoft.com/office/drawing/2014/main" id="{BE8EBC4F-2A19-4D98-BB0D-E0087E47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3"/>
          <a:stretch>
            <a:fillRect/>
          </a:stretch>
        </p:blipFill>
        <p:spPr>
          <a:xfrm>
            <a:off x="1373400" y="1666875"/>
            <a:ext cx="9418425" cy="43338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5733E8-0369-4D63-B68D-FD1480440435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La sección Sistema concentra el audio, la tarjeta SD, las columnas de captura y la configuración de la red WiFi.</a:t>
            </a:r>
          </a:p>
        </p:txBody>
      </p:sp>
    </p:spTree>
    <p:extLst>
      <p:ext uri="{BB962C8B-B14F-4D97-AF65-F5344CB8AC3E}">
        <p14:creationId xmlns:p14="http://schemas.microsoft.com/office/powerpoint/2010/main" val="126791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FD3BF8-A3B4-4036-A4D0-04638C574C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7CE1FF-8B30-4B33-925E-5E9B6C6117C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CALIBRACIÓN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16817-8E1E-4634-92BD-D13A7C06D801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027AF3-260A-46B6-B9AD-2224ED775D96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 17">
            <a:extLst>
              <a:ext uri="{FF2B5EF4-FFF2-40B4-BE49-F238E27FC236}">
                <a16:creationId xmlns:a16="http://schemas.microsoft.com/office/drawing/2014/main" id="{5BA1C0B0-C546-40F8-9C29-764568E22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88" t="19758" r="12745" b="16592"/>
          <a:stretch>
            <a:fillRect/>
          </a:stretch>
        </p:blipFill>
        <p:spPr>
          <a:xfrm>
            <a:off x="930000" y="1951875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74AC0C-9907-4E2C-961C-E5EF80A4D34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Valores actuales y calibración de entrada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EF0E1D-9C79-4903-A82E-1E8D36B6A842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Ajusta la medición de entrada usando dos referencias conocidas de corriente.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5B02EA-7542-4B49-AD71-876F5CDF7A97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ADC y DAC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037A5E-1223-4CC1-BFB4-668621D7710A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Muestran las cuentas internas actuales para diagnóstico.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C8044-A744-4F4D-AD89-BC1CE480F88C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Entrada 4 mA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5552C6-E681-48DD-902F-0D78D919391F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Registra el punto inferior de la medición.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8839F-B3E1-417F-8C13-E62723BDD358}"/>
              </a:ext>
            </a:extLst>
          </p:cNvPr>
          <p:cNvSpPr>
            <a:spLocks noGrp="1"/>
          </p:cNvSpPr>
          <p:nvPr/>
        </p:nvSpPr>
        <p:spPr>
          <a:xfrm>
            <a:off x="7477125" y="5181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Entrada 20 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2DC894-55AC-4F73-BDF9-23A3E3FA64E5}"/>
              </a:ext>
            </a:extLst>
          </p:cNvPr>
          <p:cNvSpPr>
            <a:spLocks noGrp="1"/>
          </p:cNvSpPr>
          <p:nvPr/>
        </p:nvSpPr>
        <p:spPr>
          <a:xfrm>
            <a:off x="7477125" y="550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Registra el punto superior de la medición.</a:t>
            </a:r>
          </a:p>
        </p:txBody>
      </p:sp>
    </p:spTree>
    <p:extLst>
      <p:ext uri="{BB962C8B-B14F-4D97-AF65-F5344CB8AC3E}">
        <p14:creationId xmlns:p14="http://schemas.microsoft.com/office/powerpoint/2010/main" val="1863087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1C569D-5E2B-4579-8137-C080883980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0C7E33-F5B0-4518-B65E-620EE147B2E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CALIBRACIÓN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CD4FFC-A9A3-4779-992B-C3A627B92399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6F938A-06F6-47FF-B8FE-EC06D1DBCE17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286500" cy="4000500"/>
          </a:xfrm>
          <a:prstGeom prst="roundRect">
            <a:avLst>
              <a:gd name="adj" fmla="val 1905"/>
            </a:avLst>
          </a:prstGeom>
          <a:solidFill>
            <a:srgbClr val="0E1B27"/>
          </a:solidFill>
          <a:ln w="19050">
            <a:solidFill>
              <a:srgbClr val="274254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" name="Picture 17">
            <a:extLst>
              <a:ext uri="{FF2B5EF4-FFF2-40B4-BE49-F238E27FC236}">
                <a16:creationId xmlns:a16="http://schemas.microsoft.com/office/drawing/2014/main" id="{1C7DF7F5-97BC-444C-BBDF-243DE07C98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76" t="19826" r="12894" b="18539"/>
          <a:stretch>
            <a:fillRect/>
          </a:stretch>
        </p:blipFill>
        <p:spPr>
          <a:xfrm>
            <a:off x="925237" y="2075700"/>
            <a:ext cx="5760000" cy="324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29BC68-D47C-4102-8325-80701B47C44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Calibración de salida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506A3-C204-466B-9258-3F9C3D9895EE}"/>
              </a:ext>
            </a:extLst>
          </p:cNvPr>
          <p:cNvSpPr>
            <a:spLocks noGrp="1"/>
          </p:cNvSpPr>
          <p:nvPr/>
        </p:nvSpPr>
        <p:spPr>
          <a:xfrm>
            <a:off x="7477125" y="1714500"/>
            <a:ext cx="390525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Ajusta la señal generada para que los extremos correspondan a 4 mA y 20 mA.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31A2B3-4833-45EB-9AEB-C5E5069F668F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Salida 4 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79CEF-F937-4056-A76E-74D86CA2E6FA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Corrige el punto inferior de la señal analógica.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29EE-E340-4E18-9258-3727D263F344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Salida 20 mA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669E95-B144-4DCF-A212-7480C798A9CA}"/>
              </a:ext>
            </a:extLst>
          </p:cNvPr>
          <p:cNvSpPr>
            <a:spLocks noGrp="1"/>
          </p:cNvSpPr>
          <p:nvPr/>
        </p:nvSpPr>
        <p:spPr>
          <a:xfrm>
            <a:off x="7477125" y="44386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Corrige el punto superior de la señal analógica.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19C55-018D-459E-BE73-564D1D83501F}"/>
              </a:ext>
            </a:extLst>
          </p:cNvPr>
          <p:cNvSpPr>
            <a:spLocks noGrp="1"/>
          </p:cNvSpPr>
          <p:nvPr/>
        </p:nvSpPr>
        <p:spPr>
          <a:xfrm>
            <a:off x="7477125" y="5181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Salir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A63913-B95B-4F1A-9D72-6E27FB60362E}"/>
              </a:ext>
            </a:extLst>
          </p:cNvPr>
          <p:cNvSpPr>
            <a:spLocks noGrp="1"/>
          </p:cNvSpPr>
          <p:nvPr/>
        </p:nvSpPr>
        <p:spPr>
          <a:xfrm>
            <a:off x="7477125" y="550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Regresa al menú general al finalizar el ajuste.</a:t>
            </a:r>
          </a:p>
        </p:txBody>
      </p:sp>
    </p:spTree>
    <p:extLst>
      <p:ext uri="{BB962C8B-B14F-4D97-AF65-F5344CB8AC3E}">
        <p14:creationId xmlns:p14="http://schemas.microsoft.com/office/powerpoint/2010/main" val="1727007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3125DC-5CB1-4769-810D-6E8C18ED99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ED5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848613-370C-40F2-B35E-B8776B5245C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INTERFAZ WEB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7859C9-E479-4AC6-B2D9-350C117C6714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8818DC-9140-4012-8FD6-B5D33B781C6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Calibración desde la web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A7021-460C-45BC-A7EB-F17CA5ABFD6E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Correspondencia con las pantallas 08 y 09 del display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48A79E-ABDA-4C55-BF46-D77AA3DE3BD1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La interfaz web permite consultar las cuentas actuales y ajustar los puntos de entrada y salida de 4 mA y 20 mA.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D6E4D5-1F4D-4C45-B2DD-0307A8625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3769"/>
            <a:ext cx="10820400" cy="211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4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8CA5DD-430E-4E07-B0EF-506459F7B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4ED5FF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02E72A-4127-452B-A036-40B72263D6C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4ED5FF"/>
                </a:solidFill>
                <a:latin typeface="Bitstream Charter"/>
                <a:ea typeface="Bitstream Charter"/>
                <a:cs typeface="Bitstream Charter"/>
              </a:rPr>
              <a:t>BUENAS PRÁCTICAS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7B8734-6D06-40FB-905D-D38BB63C345B}"/>
              </a:ext>
            </a:extLst>
          </p:cNvPr>
          <p:cNvSpPr>
            <a:spLocks noGrp="1"/>
          </p:cNvSpPr>
          <p:nvPr/>
        </p:nvSpPr>
        <p:spPr>
          <a:xfrm>
            <a:off x="11096625" y="36195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3B02D2-5C0C-4C4A-B989-60DB4938E2CA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FAFD"/>
                </a:solidFill>
                <a:latin typeface="Bitstream Charter"/>
                <a:ea typeface="Bitstream Charter"/>
                <a:cs typeface="Bitstream Charter"/>
              </a:rPr>
              <a:t>Registro, calibración y precauciones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4F755-4D38-4917-BC71-E1D3E85A7C75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Recomendaciones para obtener mediciones confiables y evitar pérdidas de datos durante las pruebas.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3E5DD2-FB0B-49E4-93F5-C14426DCAC33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333750" cy="3333750"/>
          </a:xfrm>
          <a:prstGeom prst="roundRect">
            <a:avLst>
              <a:gd name="adj" fmla="val 2857"/>
            </a:avLst>
          </a:prstGeom>
          <a:solidFill>
            <a:srgbClr val="0C1A25"/>
          </a:solidFill>
          <a:ln w="9525">
            <a:solidFill>
              <a:srgbClr val="27425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74D343-B99B-4FE9-8349-E19EC93D60B4}"/>
              </a:ext>
            </a:extLst>
          </p:cNvPr>
          <p:cNvSpPr>
            <a:spLocks noGrp="1"/>
          </p:cNvSpPr>
          <p:nvPr/>
        </p:nvSpPr>
        <p:spPr>
          <a:xfrm>
            <a:off x="895350" y="2219325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Registro de datos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2B6A44-3C85-4341-B4F3-06EEBEAEA5F9}"/>
              </a:ext>
            </a:extLst>
          </p:cNvPr>
          <p:cNvSpPr>
            <a:spLocks noGrp="1"/>
          </p:cNvSpPr>
          <p:nvPr/>
        </p:nvSpPr>
        <p:spPr>
          <a:xfrm>
            <a:off x="895350" y="2638425"/>
            <a:ext cx="29146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Confirmar que la SD fue detectada.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Seleccionar las variables y comenzar la captura.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Detener y guardar antes de retirar la tarjeta.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Abrir el archivo CSV en una PC para analizarlo.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9E4662-1137-4189-AF1B-BEF8C5280C6E}"/>
              </a:ext>
            </a:extLst>
          </p:cNvPr>
          <p:cNvSpPr>
            <a:spLocks noGrp="1"/>
          </p:cNvSpPr>
          <p:nvPr/>
        </p:nvSpPr>
        <p:spPr>
          <a:xfrm>
            <a:off x="4429125" y="2047875"/>
            <a:ext cx="3333750" cy="3333750"/>
          </a:xfrm>
          <a:prstGeom prst="roundRect">
            <a:avLst>
              <a:gd name="adj" fmla="val 2857"/>
            </a:avLst>
          </a:prstGeom>
          <a:solidFill>
            <a:srgbClr val="0C1A25"/>
          </a:solidFill>
          <a:ln w="9525">
            <a:solidFill>
              <a:srgbClr val="27425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462B2-2E6B-4AEC-9C07-DFD2B43E986E}"/>
              </a:ext>
            </a:extLst>
          </p:cNvPr>
          <p:cNvSpPr>
            <a:spLocks noGrp="1"/>
          </p:cNvSpPr>
          <p:nvPr/>
        </p:nvSpPr>
        <p:spPr>
          <a:xfrm>
            <a:off x="4638675" y="2219325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Calibración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C1C276-6005-4695-A76F-8DDD2255C16C}"/>
              </a:ext>
            </a:extLst>
          </p:cNvPr>
          <p:cNvSpPr>
            <a:spLocks noGrp="1"/>
          </p:cNvSpPr>
          <p:nvPr/>
        </p:nvSpPr>
        <p:spPr>
          <a:xfrm>
            <a:off x="4638675" y="2638425"/>
            <a:ext cx="29146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Usar referencias estables de 4 mA y 20 mA.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Calibrar primero la entrada y luego la salida.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Verificar el resultado en un punto intermedio, por ejemplo 12 mA.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Repetir solo si se modifica el hardware.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2BDEF3-7DDC-4114-8FAC-7571FDC3D8F3}"/>
              </a:ext>
            </a:extLst>
          </p:cNvPr>
          <p:cNvSpPr>
            <a:spLocks noGrp="1"/>
          </p:cNvSpPr>
          <p:nvPr/>
        </p:nvSpPr>
        <p:spPr>
          <a:xfrm>
            <a:off x="8172450" y="2047875"/>
            <a:ext cx="3333750" cy="3333750"/>
          </a:xfrm>
          <a:prstGeom prst="roundRect">
            <a:avLst>
              <a:gd name="adj" fmla="val 2857"/>
            </a:avLst>
          </a:prstGeom>
          <a:solidFill>
            <a:srgbClr val="0C1A25"/>
          </a:solidFill>
          <a:ln w="9525">
            <a:solidFill>
              <a:srgbClr val="27425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33614A-077B-422D-B78D-45217DF66B08}"/>
              </a:ext>
            </a:extLst>
          </p:cNvPr>
          <p:cNvSpPr>
            <a:spLocks noGrp="1"/>
          </p:cNvSpPr>
          <p:nvPr/>
        </p:nvSpPr>
        <p:spPr>
          <a:xfrm>
            <a:off x="8382000" y="2219325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>
              <a:def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A7ECFF"/>
                </a:solidFill>
                <a:latin typeface="Bitstream Charter"/>
                <a:ea typeface="Bitstream Charter"/>
                <a:cs typeface="Bitstream Charter"/>
              </a:rPr>
              <a:t>Precauciones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55BB89-2041-4EBB-8757-C3C620058600}"/>
              </a:ext>
            </a:extLst>
          </p:cNvPr>
          <p:cNvSpPr>
            <a:spLocks noGrp="1"/>
          </p:cNvSpPr>
          <p:nvPr/>
        </p:nvSpPr>
        <p:spPr>
          <a:xfrm>
            <a:off x="8382000" y="2638425"/>
            <a:ext cx="29146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Revisar polaridad y conexiones antes de energizar.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No retirar la SD durante una captura.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Desactivar la salida antes de modificar el cableado.</a:t>
            </a:r>
          </a:p>
          <a:p>
            <a:pPr>
              <a:def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>
                <a:solidFill>
                  <a:srgbClr val="AFC0CC"/>
                </a:solidFill>
                <a:latin typeface="Bitstream Charter"/>
                <a:ea typeface="Bitstream Charter"/>
                <a:cs typeface="Bitstream Charter"/>
              </a:rPr>
              <a:t>• Registrar el preset y los parámetros usados.</a:t>
            </a:r>
          </a:p>
        </p:txBody>
      </p:sp>
    </p:spTree>
    <p:extLst>
      <p:ext uri="{BB962C8B-B14F-4D97-AF65-F5344CB8AC3E}">
        <p14:creationId xmlns:p14="http://schemas.microsoft.com/office/powerpoint/2010/main" val="2510216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1152</Words>
  <Application>Microsoft Office PowerPoint</Application>
  <DocSecurity>0</DocSecurity>
  <PresentationFormat>Widescreen</PresentationFormat>
  <Paragraphs>176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Nicolas Ivani</dc:creator>
  <cp:lastModifiedBy>Nicolas Ivani</cp:lastModifiedBy>
  <cp:revision>4</cp:revision>
  <dcterms:created xsi:type="dcterms:W3CDTF">2026-10-09T02:32:01Z</dcterms:created>
  <dcterms:modified xsi:type="dcterms:W3CDTF">2026-10-09T20:59:35Z</dcterms:modified>
</cp:coreProperties>
</file>